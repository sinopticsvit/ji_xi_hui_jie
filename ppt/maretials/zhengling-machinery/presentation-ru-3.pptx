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E66D0C-B4F8-458F-9741-86584A41AB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FE298D-4415-4C46-9C1B-77632C206B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6353E3-55B7-483C-A113-75DC144BAF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33E4C3-3976-4193-8F82-30A7363AC6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E48691-813E-47E7-AC28-DE356C8164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4B3FDE-199A-4D1A-A7E3-FFFDB1F553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D90BD1-2C98-4CD0-8659-E5F3CFC119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4F869A-1D1A-4810-87AA-4EF10D28F9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DA725E-FFA7-4A83-8B6A-6329A34EA5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B943AB-808D-43F5-B991-A2DF1BE4AA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D07A85-00E9-4A71-9889-EBB4C76B91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914400" y="2727360"/>
            <a:ext cx="1036260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Компоненты рулевой системы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5090040" y="3703320"/>
            <a:ext cx="2011320" cy="37800"/>
          </a:xfrm>
          <a:prstGeom prst="rect">
            <a:avLst/>
          </a:prstGeom>
          <a:solidFill>
            <a:srgbClr val="0078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371600" y="3977640"/>
            <a:ext cx="94482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Автомобильная отрасль: промежуточные валы, yoke, рулевые валы.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Обобщённый обзор без раскрытия поставщиков.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ectangle 2"/>
          <p:cNvSpPr/>
          <p:nvPr/>
        </p:nvSpPr>
        <p:spPr>
          <a:xfrm>
            <a:off x="0" y="0"/>
            <a:ext cx="12191400" cy="4568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502920" y="567000"/>
            <a:ext cx="1118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Карта возможностей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4"/>
          <p:cNvSpPr/>
          <p:nvPr/>
        </p:nvSpPr>
        <p:spPr>
          <a:xfrm>
            <a:off x="502920" y="1207080"/>
            <a:ext cx="2194200" cy="37800"/>
          </a:xfrm>
          <a:prstGeom prst="rect">
            <a:avLst/>
          </a:prstGeom>
          <a:solidFill>
            <a:srgbClr val="0078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ounded Rectangle 5"/>
          <p:cNvSpPr/>
          <p:nvPr/>
        </p:nvSpPr>
        <p:spPr>
          <a:xfrm>
            <a:off x="502920" y="1600200"/>
            <a:ext cx="2556000" cy="411444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685800" y="1783080"/>
            <a:ext cx="219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Продукция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685800" y="2468880"/>
            <a:ext cx="219024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  <a:spcAft>
                <a:spcPts val="935"/>
              </a:spcAft>
            </a:pPr>
            <a:r>
              <a:rPr lang="en-US" sz="13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3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I-Shaft 10T / 18T / EPS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35"/>
              </a:spcAft>
            </a:pPr>
            <a:r>
              <a:rPr lang="en-US" sz="13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3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Yoke и рулевые валы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35"/>
              </a:spcAft>
            </a:pPr>
            <a:r>
              <a:rPr lang="en-US" sz="13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3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OEM по образцам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8"/>
          <p:cNvSpPr/>
          <p:nvPr/>
        </p:nvSpPr>
        <p:spPr>
          <a:xfrm>
            <a:off x="3379320" y="1600200"/>
            <a:ext cx="2556000" cy="411444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9"/>
          <p:cNvSpPr/>
          <p:nvPr/>
        </p:nvSpPr>
        <p:spPr>
          <a:xfrm>
            <a:off x="3562200" y="1783080"/>
            <a:ext cx="219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НИОКР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3562200" y="2468880"/>
            <a:ext cx="219024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  <a:spcAft>
                <a:spcPts val="935"/>
              </a:spcAft>
            </a:pPr>
            <a:r>
              <a:rPr lang="en-US" sz="13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3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28 технологов, 6 экспертов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35"/>
              </a:spcAft>
            </a:pPr>
            <a:r>
              <a:rPr lang="en-US" sz="13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3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Стандарты EU/US/JP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35"/>
              </a:spcAft>
            </a:pPr>
            <a:r>
              <a:rPr lang="en-US" sz="13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3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FEA и фазировка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11"/>
          <p:cNvSpPr/>
          <p:nvPr/>
        </p:nvSpPr>
        <p:spPr>
          <a:xfrm>
            <a:off x="6255720" y="1600200"/>
            <a:ext cx="2556000" cy="411444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2"/>
          <p:cNvSpPr/>
          <p:nvPr/>
        </p:nvSpPr>
        <p:spPr>
          <a:xfrm>
            <a:off x="6438600" y="1783080"/>
            <a:ext cx="219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Производство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3"/>
          <p:cNvSpPr/>
          <p:nvPr/>
        </p:nvSpPr>
        <p:spPr>
          <a:xfrm>
            <a:off x="6438600" y="2468880"/>
            <a:ext cx="219024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  <a:spcAft>
                <a:spcPts val="935"/>
              </a:spcAft>
            </a:pPr>
            <a:r>
              <a:rPr lang="en-US" sz="13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3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3 линии сборки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35"/>
              </a:spcAft>
            </a:pPr>
            <a:r>
              <a:rPr lang="en-US" sz="13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3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Сварка, spline, ball-sliding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35"/>
              </a:spcAft>
            </a:pPr>
            <a:r>
              <a:rPr lang="en-US" sz="13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3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Холодная/горячая высадка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14"/>
          <p:cNvSpPr/>
          <p:nvPr/>
        </p:nvSpPr>
        <p:spPr>
          <a:xfrm>
            <a:off x="9132480" y="1600200"/>
            <a:ext cx="2556000" cy="411444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15"/>
          <p:cNvSpPr/>
          <p:nvPr/>
        </p:nvSpPr>
        <p:spPr>
          <a:xfrm>
            <a:off x="9315360" y="1783080"/>
            <a:ext cx="219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Контроль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6"/>
          <p:cNvSpPr/>
          <p:nvPr/>
        </p:nvSpPr>
        <p:spPr>
          <a:xfrm>
            <a:off x="9315360" y="2468880"/>
            <a:ext cx="219024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  <a:spcAft>
                <a:spcPts val="935"/>
              </a:spcAft>
            </a:pPr>
            <a:r>
              <a:rPr lang="en-US" sz="13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3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Программа испытаний NVH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35"/>
              </a:spcAft>
            </a:pPr>
            <a:r>
              <a:rPr lang="en-US" sz="13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3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CMM, MPT, стенды жёсткости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35"/>
              </a:spcAft>
            </a:pPr>
            <a:r>
              <a:rPr lang="en-US" sz="13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3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100% контроль сырья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7"/>
          <p:cNvSpPr/>
          <p:nvPr/>
        </p:nvSpPr>
        <p:spPr>
          <a:xfrm>
            <a:off x="10362960" y="6473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2 / 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2"/>
          <p:cNvSpPr/>
          <p:nvPr/>
        </p:nvSpPr>
        <p:spPr>
          <a:xfrm>
            <a:off x="0" y="0"/>
            <a:ext cx="12191400" cy="4568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502920" y="567000"/>
            <a:ext cx="1118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НИОКР и проектирование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4"/>
          <p:cNvSpPr/>
          <p:nvPr/>
        </p:nvSpPr>
        <p:spPr>
          <a:xfrm>
            <a:off x="502920" y="1207080"/>
            <a:ext cx="2194200" cy="37800"/>
          </a:xfrm>
          <a:prstGeom prst="rect">
            <a:avLst/>
          </a:prstGeom>
          <a:solidFill>
            <a:srgbClr val="0078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502920" y="1554480"/>
            <a:ext cx="10241280" cy="22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225"/>
              </a:spcAft>
            </a:pPr>
            <a:r>
              <a:rPr lang="en-US" sz="17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7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 Производство в соотвествии с государственными и отраслевыми стандартами (EU, US, JP).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225"/>
              </a:spcAf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225"/>
              </a:spcAft>
            </a:pPr>
            <a:r>
              <a:rPr lang="en-US" sz="17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7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Команда с опытом более 30 лет у ведущих производителей рулевых систем.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225"/>
              </a:spcAf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225"/>
              </a:spcAft>
            </a:pPr>
            <a:r>
              <a:rPr lang="en-US" sz="17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7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Оптимизация конструкций по образцам мировых поставщиков компонентов.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6"/>
          <p:cNvSpPr/>
          <p:nvPr/>
        </p:nvSpPr>
        <p:spPr>
          <a:xfrm>
            <a:off x="10362960" y="6473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4 / 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2"/>
          <p:cNvSpPr/>
          <p:nvPr/>
        </p:nvSpPr>
        <p:spPr>
          <a:xfrm>
            <a:off x="0" y="0"/>
            <a:ext cx="12191400" cy="4568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502920" y="567000"/>
            <a:ext cx="1118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Линейка промежуточных валов (I-Shaft)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4"/>
          <p:cNvSpPr/>
          <p:nvPr/>
        </p:nvSpPr>
        <p:spPr>
          <a:xfrm>
            <a:off x="502920" y="1207080"/>
            <a:ext cx="2194200" cy="37800"/>
          </a:xfrm>
          <a:prstGeom prst="rect">
            <a:avLst/>
          </a:prstGeom>
          <a:solidFill>
            <a:srgbClr val="0078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Picture 5" descr="crop__zhengling-machinery__images__slide-14.png"/>
          <p:cNvPicPr/>
          <p:nvPr/>
        </p:nvPicPr>
        <p:blipFill>
          <a:blip r:embed="rId1"/>
          <a:srcRect l="0" t="24169" r="0" b="0"/>
          <a:stretch/>
        </p:blipFill>
        <p:spPr>
          <a:xfrm>
            <a:off x="3322080" y="2514600"/>
            <a:ext cx="5546880" cy="3154320"/>
          </a:xfrm>
          <a:prstGeom prst="rect">
            <a:avLst/>
          </a:prstGeom>
          <a:noFill/>
          <a:ln w="12700">
            <a:solidFill>
              <a:srgbClr val="CBD5E1"/>
            </a:solidFill>
            <a:round/>
          </a:ln>
        </p:spPr>
      </p:pic>
      <p:sp>
        <p:nvSpPr>
          <p:cNvPr id="93" name="TextBox 6"/>
          <p:cNvSpPr/>
          <p:nvPr/>
        </p:nvSpPr>
        <p:spPr>
          <a:xfrm>
            <a:off x="502920" y="5897880"/>
            <a:ext cx="1118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НИОКР и серийное производство компонентов рулевой и трансмиссионной системы.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7"/>
          <p:cNvSpPr/>
          <p:nvPr/>
        </p:nvSpPr>
        <p:spPr>
          <a:xfrm>
            <a:off x="10362960" y="6473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5 / 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ectangle 2"/>
          <p:cNvSpPr/>
          <p:nvPr/>
        </p:nvSpPr>
        <p:spPr>
          <a:xfrm>
            <a:off x="0" y="0"/>
            <a:ext cx="12191400" cy="4568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502920" y="567000"/>
            <a:ext cx="1118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Yoke (вилки)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4"/>
          <p:cNvSpPr/>
          <p:nvPr/>
        </p:nvSpPr>
        <p:spPr>
          <a:xfrm>
            <a:off x="502920" y="1207080"/>
            <a:ext cx="2194200" cy="37800"/>
          </a:xfrm>
          <a:prstGeom prst="rect">
            <a:avLst/>
          </a:prstGeom>
          <a:solidFill>
            <a:srgbClr val="0078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5" descr="crop__zhengling-machinery__images__slide-13.png"/>
          <p:cNvPicPr/>
          <p:nvPr/>
        </p:nvPicPr>
        <p:blipFill>
          <a:blip r:embed="rId1"/>
          <a:srcRect l="0" t="24172" r="0" b="0"/>
          <a:stretch/>
        </p:blipFill>
        <p:spPr>
          <a:xfrm>
            <a:off x="3322080" y="2514600"/>
            <a:ext cx="5546880" cy="3154320"/>
          </a:xfrm>
          <a:prstGeom prst="rect">
            <a:avLst/>
          </a:prstGeom>
          <a:noFill/>
          <a:ln w="12700">
            <a:solidFill>
              <a:srgbClr val="CBD5E1"/>
            </a:solidFill>
            <a:round/>
          </a:ln>
        </p:spPr>
      </p:pic>
      <p:sp>
        <p:nvSpPr>
          <p:cNvPr id="100" name="TextBox 6"/>
          <p:cNvSpPr/>
          <p:nvPr/>
        </p:nvSpPr>
        <p:spPr>
          <a:xfrm>
            <a:off x="502920" y="5897880"/>
            <a:ext cx="1118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Холодная и горячая высадка, OEM по образцам заказчика.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10362960" y="6473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6 / 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2"/>
          <p:cNvSpPr/>
          <p:nvPr/>
        </p:nvSpPr>
        <p:spPr>
          <a:xfrm>
            <a:off x="0" y="0"/>
            <a:ext cx="12191400" cy="4568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502920" y="567000"/>
            <a:ext cx="111855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10T slide spline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4"/>
          <p:cNvSpPr/>
          <p:nvPr/>
        </p:nvSpPr>
        <p:spPr>
          <a:xfrm>
            <a:off x="502920" y="1207080"/>
            <a:ext cx="2194200" cy="37800"/>
          </a:xfrm>
          <a:prstGeom prst="rect">
            <a:avLst/>
          </a:prstGeom>
          <a:solidFill>
            <a:srgbClr val="0078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Picture 5" descr="crop__zhengling-machinery__images__slide-15.png"/>
          <p:cNvPicPr/>
          <p:nvPr/>
        </p:nvPicPr>
        <p:blipFill>
          <a:blip r:embed="rId1"/>
          <a:srcRect l="0" t="24172" r="0" b="0"/>
          <a:stretch/>
        </p:blipFill>
        <p:spPr>
          <a:xfrm>
            <a:off x="3322080" y="2514600"/>
            <a:ext cx="5546880" cy="3154320"/>
          </a:xfrm>
          <a:prstGeom prst="rect">
            <a:avLst/>
          </a:prstGeom>
          <a:noFill/>
          <a:ln w="12700">
            <a:solidFill>
              <a:srgbClr val="CBD5E1"/>
            </a:solidFill>
            <a:round/>
          </a:ln>
        </p:spPr>
      </p:pic>
      <p:sp>
        <p:nvSpPr>
          <p:cNvPr id="107" name="TextBox 6"/>
          <p:cNvSpPr/>
          <p:nvPr/>
        </p:nvSpPr>
        <p:spPr>
          <a:xfrm>
            <a:off x="502920" y="5897880"/>
            <a:ext cx="111855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Сварной yoke, yoke холодной высадки, spline с пластиковым покрытием. Рабочий момент: 30–50 N·m.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7"/>
          <p:cNvSpPr/>
          <p:nvPr/>
        </p:nvSpPr>
        <p:spPr>
          <a:xfrm>
            <a:off x="10362960" y="6473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7 / 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ectangle 2"/>
          <p:cNvSpPr/>
          <p:nvPr/>
        </p:nvSpPr>
        <p:spPr>
          <a:xfrm>
            <a:off x="0" y="0"/>
            <a:ext cx="12191400" cy="4568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502920" y="567000"/>
            <a:ext cx="111855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B2A4A"/>
                </a:solidFill>
                <a:effectLst/>
                <a:uFillTx/>
                <a:latin typeface="Segoe UI Semibold"/>
                <a:ea typeface="Noto Sans SC"/>
              </a:rPr>
              <a:t>18T </a:t>
            </a:r>
            <a:r>
              <a:rPr lang="en-US" sz="26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 slide spline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4"/>
          <p:cNvSpPr/>
          <p:nvPr/>
        </p:nvSpPr>
        <p:spPr>
          <a:xfrm>
            <a:off x="502920" y="1207080"/>
            <a:ext cx="2194200" cy="37800"/>
          </a:xfrm>
          <a:prstGeom prst="rect">
            <a:avLst/>
          </a:prstGeom>
          <a:solidFill>
            <a:srgbClr val="0078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3" name="Picture 5" descr="crop__zhengling-machinery__images__slide-16.png"/>
          <p:cNvPicPr/>
          <p:nvPr/>
        </p:nvPicPr>
        <p:blipFill>
          <a:blip r:embed="rId1"/>
          <a:srcRect l="0" t="24172" r="0" b="0"/>
          <a:stretch/>
        </p:blipFill>
        <p:spPr>
          <a:xfrm>
            <a:off x="3322080" y="2514600"/>
            <a:ext cx="5546880" cy="3154320"/>
          </a:xfrm>
          <a:prstGeom prst="rect">
            <a:avLst/>
          </a:prstGeom>
          <a:noFill/>
          <a:ln w="12700">
            <a:solidFill>
              <a:srgbClr val="CBD5E1"/>
            </a:solidFill>
            <a:round/>
          </a:ln>
        </p:spPr>
      </p:pic>
      <p:sp>
        <p:nvSpPr>
          <p:cNvPr id="114" name="TextBox 6"/>
          <p:cNvSpPr/>
          <p:nvPr/>
        </p:nvSpPr>
        <p:spPr>
          <a:xfrm>
            <a:off x="502920" y="5897880"/>
            <a:ext cx="1118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Рабочий момент: 50–65 N·m.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7"/>
          <p:cNvSpPr/>
          <p:nvPr/>
        </p:nvSpPr>
        <p:spPr>
          <a:xfrm>
            <a:off x="10362960" y="6473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8 / 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2"/>
          <p:cNvSpPr/>
          <p:nvPr/>
        </p:nvSpPr>
        <p:spPr>
          <a:xfrm>
            <a:off x="0" y="0"/>
            <a:ext cx="12191400" cy="4568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502920" y="567000"/>
            <a:ext cx="1118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EPS ball-sliding I-Shaft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4"/>
          <p:cNvSpPr/>
          <p:nvPr/>
        </p:nvSpPr>
        <p:spPr>
          <a:xfrm>
            <a:off x="502920" y="1207080"/>
            <a:ext cx="2194200" cy="37800"/>
          </a:xfrm>
          <a:prstGeom prst="rect">
            <a:avLst/>
          </a:prstGeom>
          <a:solidFill>
            <a:srgbClr val="0078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5"/>
          <p:cNvSpPr/>
          <p:nvPr/>
        </p:nvSpPr>
        <p:spPr>
          <a:xfrm>
            <a:off x="502920" y="1554480"/>
            <a:ext cx="493740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225"/>
              </a:spcAft>
            </a:pPr>
            <a:r>
              <a:rPr lang="en-US" sz="17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7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Рабочий момент: 65–99 N·m.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225"/>
              </a:spcAft>
            </a:pPr>
            <a:r>
              <a:rPr lang="en-US" sz="17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7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6-зубчатая конструкция со стальными шариками и втулками.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225"/>
              </a:spcAft>
            </a:pPr>
            <a:r>
              <a:rPr lang="en-US" sz="17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7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Секционная сварка или монолитная сборка — по требованию заказчика.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icture 6"/>
          <p:cNvSpPr txBox="1"/>
          <p:nvPr/>
        </p:nvSpPr>
        <p:spPr>
          <a:xfrm>
            <a:off x="5966280" y="2573640"/>
            <a:ext cx="5608080" cy="2912400"/>
          </a:xfrm>
          <a:prstGeom prst="rect">
            <a:avLst/>
          </a:prstGeom>
          <a:blipFill rotWithShape="0">
            <a:blip r:embed="rId1"/>
            <a:srcRect l="0" t="24219" r="0" b="6521"/>
            <a:stretch/>
          </a:blipFill>
          <a:ln w="12700">
            <a:solidFill>
              <a:srgbClr val="CBD5E1"/>
            </a:solidFill>
            <a:round/>
          </a:ln>
        </p:spPr>
        <p:txBody>
          <a:bodyPr lIns="90000" tIns="45000" rIns="90000" bIns="45000" anchor="t" anchorCtr="1">
            <a:no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7"/>
          <p:cNvSpPr/>
          <p:nvPr/>
        </p:nvSpPr>
        <p:spPr>
          <a:xfrm>
            <a:off x="10362960" y="6473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9 / 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2"/>
          <p:cNvSpPr/>
          <p:nvPr/>
        </p:nvSpPr>
        <p:spPr>
          <a:xfrm>
            <a:off x="0" y="0"/>
            <a:ext cx="12191400" cy="4568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502920" y="567000"/>
            <a:ext cx="1118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Рулевые валы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4"/>
          <p:cNvSpPr/>
          <p:nvPr/>
        </p:nvSpPr>
        <p:spPr>
          <a:xfrm>
            <a:off x="502920" y="1207080"/>
            <a:ext cx="2194200" cy="37800"/>
          </a:xfrm>
          <a:prstGeom prst="rect">
            <a:avLst/>
          </a:prstGeom>
          <a:solidFill>
            <a:srgbClr val="0078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7" name="Picture 5" descr="crop__zhengling-machinery__images__slide-18.png"/>
          <p:cNvPicPr/>
          <p:nvPr/>
        </p:nvPicPr>
        <p:blipFill>
          <a:blip r:embed="rId1"/>
          <a:srcRect l="0" t="24172" r="0" b="0"/>
          <a:stretch/>
        </p:blipFill>
        <p:spPr>
          <a:xfrm>
            <a:off x="3322080" y="2514600"/>
            <a:ext cx="5546880" cy="3154320"/>
          </a:xfrm>
          <a:prstGeom prst="rect">
            <a:avLst/>
          </a:prstGeom>
          <a:noFill/>
          <a:ln w="12700">
            <a:solidFill>
              <a:srgbClr val="CBD5E1"/>
            </a:solidFill>
            <a:round/>
          </a:ln>
        </p:spPr>
      </p:pic>
      <p:sp>
        <p:nvSpPr>
          <p:cNvPr id="128" name="TextBox 6"/>
          <p:cNvSpPr/>
          <p:nvPr/>
        </p:nvSpPr>
        <p:spPr>
          <a:xfrm>
            <a:off x="10362960" y="6473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10 / 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2"/>
          <p:cNvSpPr/>
          <p:nvPr/>
        </p:nvSpPr>
        <p:spPr>
          <a:xfrm>
            <a:off x="0" y="0"/>
            <a:ext cx="12191400" cy="4568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502920" y="567000"/>
            <a:ext cx="1118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Проектирование и FEA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4"/>
          <p:cNvSpPr/>
          <p:nvPr/>
        </p:nvSpPr>
        <p:spPr>
          <a:xfrm>
            <a:off x="502920" y="1207080"/>
            <a:ext cx="2194200" cy="37800"/>
          </a:xfrm>
          <a:prstGeom prst="rect">
            <a:avLst/>
          </a:prstGeom>
          <a:solidFill>
            <a:srgbClr val="0078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3" name="Picture 5" descr="crop__zhengling-machinery__images__slide-19.png"/>
          <p:cNvPicPr/>
          <p:nvPr/>
        </p:nvPicPr>
        <p:blipFill>
          <a:blip r:embed="rId1"/>
          <a:srcRect l="0" t="39612" r="0" b="0"/>
          <a:stretch/>
        </p:blipFill>
        <p:spPr>
          <a:xfrm>
            <a:off x="502920" y="2971800"/>
            <a:ext cx="5409720" cy="1861560"/>
          </a:xfrm>
          <a:prstGeom prst="rect">
            <a:avLst/>
          </a:prstGeom>
          <a:noFill/>
          <a:ln w="12700">
            <a:solidFill>
              <a:srgbClr val="CBD5E1"/>
            </a:solidFill>
            <a:round/>
          </a:ln>
        </p:spPr>
      </p:pic>
      <p:sp>
        <p:nvSpPr>
          <p:cNvPr id="134" name="TextBox 6"/>
          <p:cNvSpPr/>
          <p:nvPr/>
        </p:nvSpPr>
        <p:spPr>
          <a:xfrm>
            <a:off x="502920" y="5120640"/>
            <a:ext cx="540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Карданный шарнир и фазировка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Picture 7" descr="crop__zhengling-machinery__images__slide-20.png"/>
          <p:cNvPicPr/>
          <p:nvPr/>
        </p:nvPicPr>
        <p:blipFill>
          <a:blip r:embed="rId2"/>
          <a:srcRect l="0" t="17377" r="0" b="0"/>
          <a:stretch/>
        </p:blipFill>
        <p:spPr>
          <a:xfrm>
            <a:off x="6278760" y="2286000"/>
            <a:ext cx="5409720" cy="2547360"/>
          </a:xfrm>
          <a:prstGeom prst="rect">
            <a:avLst/>
          </a:prstGeom>
          <a:noFill/>
          <a:ln w="12700">
            <a:solidFill>
              <a:srgbClr val="CBD5E1"/>
            </a:solidFill>
            <a:round/>
          </a:ln>
        </p:spPr>
      </p:pic>
      <p:sp>
        <p:nvSpPr>
          <p:cNvPr id="136" name="TextBox 8"/>
          <p:cNvSpPr/>
          <p:nvPr/>
        </p:nvSpPr>
        <p:spPr>
          <a:xfrm>
            <a:off x="6278760" y="5120640"/>
            <a:ext cx="540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FEA-анализ деталей I-Shaft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9"/>
          <p:cNvSpPr/>
          <p:nvPr/>
        </p:nvSpPr>
        <p:spPr>
          <a:xfrm>
            <a:off x="10362960" y="6473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11 / 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2"/>
          <p:cNvSpPr/>
          <p:nvPr/>
        </p:nvSpPr>
        <p:spPr>
          <a:xfrm>
            <a:off x="0" y="0"/>
            <a:ext cx="12191400" cy="4568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502920" y="567000"/>
            <a:ext cx="1118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Программа испытаний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4"/>
          <p:cNvSpPr/>
          <p:nvPr/>
        </p:nvSpPr>
        <p:spPr>
          <a:xfrm>
            <a:off x="502920" y="1207080"/>
            <a:ext cx="2194200" cy="37800"/>
          </a:xfrm>
          <a:prstGeom prst="rect">
            <a:avLst/>
          </a:prstGeom>
          <a:solidFill>
            <a:srgbClr val="0078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42" name="Table 5"/>
          <p:cNvGraphicFramePr/>
          <p:nvPr/>
        </p:nvGraphicFramePr>
        <p:xfrm>
          <a:off x="502920" y="1554480"/>
          <a:ext cx="11185560" cy="1608840"/>
        </p:xfrm>
        <a:graphic>
          <a:graphicData uri="http://schemas.openxmlformats.org/drawingml/2006/table">
            <a:tbl>
              <a:tblPr/>
              <a:tblGrid>
                <a:gridCol w="3579120"/>
                <a:gridCol w="760608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 Semibold"/>
                        </a:rPr>
                        <a:t>Категория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 Semibold"/>
                        </a:rPr>
                        <a:t>Параметры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F2A44"/>
                          </a:solidFill>
                          <a:effectLst/>
                          <a:uFillTx/>
                          <a:latin typeface="Segoe UI"/>
                        </a:rPr>
                        <a:t>Функциональные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F2A44"/>
                          </a:solidFill>
                          <a:effectLst/>
                          <a:uFillTx/>
                          <a:latin typeface="Segoe UI"/>
                        </a:rPr>
                        <a:t>Момент трения, соосность; крутильная жёсткость; осевой и радиальный зазоры; момент карданного шарнира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F2A44"/>
                          </a:solidFill>
                          <a:effectLst/>
                          <a:uFillTx/>
                          <a:latin typeface="Segoe UI"/>
                        </a:rPr>
                        <a:t>Прочностные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F2A44"/>
                          </a:solidFill>
                          <a:effectLst/>
                          <a:uFillTx/>
                          <a:latin typeface="Segoe UI"/>
                        </a:rPr>
                        <a:t>Предел кручения; усталость; усилие выдавливания подшипника; осевое растяжение вал–труба–yoke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F2A44"/>
                          </a:solidFill>
                          <a:effectLst/>
                          <a:uFillTx/>
                          <a:latin typeface="Segoe UI"/>
                        </a:rPr>
                        <a:t>NVH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F2A44"/>
                          </a:solidFill>
                          <a:effectLst/>
                          <a:uFillTx/>
                          <a:latin typeface="Segoe UI"/>
                        </a:rPr>
                        <a:t>Вязкое трение, акустические и вибрационные требования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3" name="TextBox 6"/>
          <p:cNvSpPr/>
          <p:nvPr/>
        </p:nvSpPr>
        <p:spPr>
          <a:xfrm>
            <a:off x="10362960" y="6473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12 / 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502920" y="1828800"/>
            <a:ext cx="27428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0" b="1" u="none" strike="noStrike">
                <a:solidFill>
                  <a:srgbClr val="0078A8"/>
                </a:solidFill>
                <a:effectLst/>
                <a:uFillTx/>
                <a:latin typeface="Segoe UI Semibold"/>
              </a:rPr>
              <a:t>B</a:t>
            </a:r>
            <a:endParaRPr lang="en-US" sz="1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3"/>
          <p:cNvSpPr/>
          <p:nvPr/>
        </p:nvSpPr>
        <p:spPr>
          <a:xfrm>
            <a:off x="2743200" y="2651760"/>
            <a:ext cx="8899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egoe UI Semibold"/>
              </a:rPr>
              <a:t>Производство и контроль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4"/>
          <p:cNvSpPr/>
          <p:nvPr/>
        </p:nvSpPr>
        <p:spPr>
          <a:xfrm>
            <a:off x="2788920" y="3840480"/>
            <a:ext cx="889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8F4F8"/>
                </a:solidFill>
                <a:effectLst/>
                <a:uFillTx/>
                <a:latin typeface="Segoe UI"/>
              </a:rPr>
              <a:t>3 линии сборки, автоматическая сварка, стенды жёсткости и контроля качества.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2"/>
          <p:cNvSpPr/>
          <p:nvPr/>
        </p:nvSpPr>
        <p:spPr>
          <a:xfrm>
            <a:off x="0" y="0"/>
            <a:ext cx="12191400" cy="4568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3"/>
          <p:cNvSpPr/>
          <p:nvPr/>
        </p:nvSpPr>
        <p:spPr>
          <a:xfrm>
            <a:off x="502920" y="567000"/>
            <a:ext cx="1118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Сборка промежуточного вала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4"/>
          <p:cNvSpPr/>
          <p:nvPr/>
        </p:nvSpPr>
        <p:spPr>
          <a:xfrm>
            <a:off x="502920" y="1207080"/>
            <a:ext cx="2194200" cy="37800"/>
          </a:xfrm>
          <a:prstGeom prst="rect">
            <a:avLst/>
          </a:prstGeom>
          <a:solidFill>
            <a:srgbClr val="0078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2" name="Picture 5" descr="crop__zhengling-machinery__images__slide-28.png"/>
          <p:cNvPicPr/>
          <p:nvPr/>
        </p:nvPicPr>
        <p:blipFill>
          <a:blip r:embed="rId1"/>
          <a:srcRect l="0" t="16343" r="0" b="0"/>
          <a:stretch/>
        </p:blipFill>
        <p:spPr>
          <a:xfrm>
            <a:off x="2527560" y="2188800"/>
            <a:ext cx="7136640" cy="3480120"/>
          </a:xfrm>
          <a:prstGeom prst="rect">
            <a:avLst/>
          </a:prstGeom>
          <a:noFill/>
          <a:ln w="12700">
            <a:solidFill>
              <a:srgbClr val="CBD5E1"/>
            </a:solidFill>
            <a:round/>
          </a:ln>
        </p:spPr>
      </p:pic>
      <p:sp>
        <p:nvSpPr>
          <p:cNvPr id="153" name="TextBox 6"/>
          <p:cNvSpPr/>
          <p:nvPr/>
        </p:nvSpPr>
        <p:spPr>
          <a:xfrm>
            <a:off x="10362960" y="6473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14 / 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ectangle 2"/>
          <p:cNvSpPr/>
          <p:nvPr/>
        </p:nvSpPr>
        <p:spPr>
          <a:xfrm>
            <a:off x="0" y="0"/>
            <a:ext cx="12191400" cy="4568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3"/>
          <p:cNvSpPr/>
          <p:nvPr/>
        </p:nvSpPr>
        <p:spPr>
          <a:xfrm>
            <a:off x="502920" y="567000"/>
            <a:ext cx="1118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Ключевые характеристики и материалы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4"/>
          <p:cNvSpPr/>
          <p:nvPr/>
        </p:nvSpPr>
        <p:spPr>
          <a:xfrm>
            <a:off x="502920" y="1207080"/>
            <a:ext cx="2194200" cy="37800"/>
          </a:xfrm>
          <a:prstGeom prst="rect">
            <a:avLst/>
          </a:prstGeom>
          <a:solidFill>
            <a:srgbClr val="0078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58" name="Table 5"/>
          <p:cNvGraphicFramePr/>
          <p:nvPr/>
        </p:nvGraphicFramePr>
        <p:xfrm>
          <a:off x="502920" y="1554480"/>
          <a:ext cx="11185560" cy="1535760"/>
        </p:xfrm>
        <a:graphic>
          <a:graphicData uri="http://schemas.openxmlformats.org/drawingml/2006/table">
            <a:tbl>
              <a:tblPr/>
              <a:tblGrid>
                <a:gridCol w="3915000"/>
                <a:gridCol w="727056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 Semibold"/>
                        </a:rPr>
                        <a:t>Аспект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 Semibold"/>
                        </a:rPr>
                        <a:t>Содержание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F2A44"/>
                          </a:solidFill>
                          <a:effectLst/>
                          <a:uFillTx/>
                          <a:latin typeface="Segoe UI"/>
                        </a:rPr>
                        <a:t>Spline / подшипник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F2A44"/>
                          </a:solidFill>
                          <a:effectLst/>
                          <a:uFillTx/>
                          <a:latin typeface="Segoe UI"/>
                        </a:rPr>
                        <a:t>Точность посадки spline; размеры отверстия подшипника; позиционирование болта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F2A44"/>
                          </a:solidFill>
                          <a:effectLst/>
                          <a:uFillTx/>
                          <a:latin typeface="Segoe UI"/>
                        </a:rPr>
                        <a:t>Сырьё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F2A44"/>
                          </a:solidFill>
                          <a:effectLst/>
                          <a:uFillTx/>
                          <a:latin typeface="Segoe UI"/>
                        </a:rPr>
                        <a:t>100% контроль сырья; оценка микроструктуры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F2A44"/>
                          </a:solidFill>
                          <a:effectLst/>
                          <a:uFillTx/>
                          <a:latin typeface="Segoe UI"/>
                        </a:rPr>
                        <a:t>Процесс yoke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F2A44"/>
                          </a:solidFill>
                          <a:effectLst/>
                          <a:uFillTx/>
                          <a:latin typeface="Segoe UI"/>
                        </a:rPr>
                        <a:t>Требования к штамповке и контролю дефектов материала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TextBox 6"/>
          <p:cNvSpPr/>
          <p:nvPr/>
        </p:nvSpPr>
        <p:spPr>
          <a:xfrm>
            <a:off x="10362960" y="6473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15 / 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914400" y="2377440"/>
            <a:ext cx="10362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0B2A4A"/>
                </a:solidFill>
                <a:effectLst/>
                <a:uFillTx/>
                <a:latin typeface="Segoe UI Semibold"/>
              </a:rPr>
              <a:t>НИОКР, качество и следующий шаг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3"/>
          <p:cNvSpPr/>
          <p:nvPr/>
        </p:nvSpPr>
        <p:spPr>
          <a:xfrm>
            <a:off x="5090040" y="3703320"/>
            <a:ext cx="2011320" cy="37800"/>
          </a:xfrm>
          <a:prstGeom prst="rect">
            <a:avLst/>
          </a:prstGeom>
          <a:solidFill>
            <a:srgbClr val="0078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4"/>
          <p:cNvSpPr/>
          <p:nvPr/>
        </p:nvSpPr>
        <p:spPr>
          <a:xfrm>
            <a:off x="1371600" y="3977640"/>
            <a:ext cx="94482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Подбор изделий и уточнение применимости — по техническому заданию.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5"/>
          <p:cNvSpPr/>
          <p:nvPr/>
        </p:nvSpPr>
        <p:spPr>
          <a:xfrm>
            <a:off x="3108960" y="4572000"/>
            <a:ext cx="5973480" cy="11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80"/>
              </a:spcAft>
            </a:pPr>
            <a:r>
              <a:rPr lang="en-US" sz="15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5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FEA, оптимизация угла фазировки, программа испытаний NVH.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080"/>
              </a:spcAft>
            </a:pPr>
            <a:r>
              <a:rPr lang="en-US" sz="15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5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3 линии сборки, сварка, контроль карданных шарниров.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080"/>
              </a:spcAft>
            </a:pPr>
            <a:r>
              <a:rPr lang="en-US" sz="1500" b="1" u="none" strike="noStrike">
                <a:solidFill>
                  <a:srgbClr val="0078A8"/>
                </a:solidFill>
                <a:effectLst/>
                <a:uFillTx/>
                <a:latin typeface="Segoe UI"/>
              </a:rPr>
              <a:t>•  </a:t>
            </a:r>
            <a:r>
              <a:rPr lang="en-US" sz="1500" b="0" u="none" strike="noStrike">
                <a:solidFill>
                  <a:srgbClr val="1F2A44"/>
                </a:solidFill>
                <a:effectLst/>
                <a:uFillTx/>
                <a:latin typeface="Segoe UI"/>
              </a:rPr>
              <a:t>CMM, магнитопорошковый контроль, стенды жёсткости.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LibreOffice/26.2.4.2$Windows_X86_64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2026-06-12T16:11:26Z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