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0B2A4A"/>
                </a:solidFill>
                <a:latin typeface="Segoe UI Semibold"/>
              </a:rPr>
              <a:t>Компоненты рулевой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90007" y="3703320"/>
            <a:ext cx="201168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484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Автомобильная отрасль: промежуточные валы, yoke, рулевые валы.
Обобщённый обзор без раскрытия поставщиков.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Карта возможностей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2556433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1906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Segoe UI Semibold"/>
              </a:rPr>
              <a:t>Продукция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190673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I-Shaft 10T / 18T / EPS</a:t>
            </a:r>
          </a:p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Yoke и рулевые валы</a:t>
            </a:r>
          </a:p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OEM по образцам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9393" y="1600200"/>
            <a:ext cx="2556433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2273" y="1783080"/>
            <a:ext cx="21906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Segoe UI Semibold"/>
              </a:rPr>
              <a:t>НИОКР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468880"/>
            <a:ext cx="2190673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28 технологов, 6 экспертов</a:t>
            </a:r>
          </a:p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Стандарты EU/US/JP</a:t>
            </a:r>
          </a:p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FEA и фазировка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5866" y="1600200"/>
            <a:ext cx="2556433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746" y="1783080"/>
            <a:ext cx="21906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Segoe UI Semibold"/>
              </a:rPr>
              <a:t>Производство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6" y="2468880"/>
            <a:ext cx="2190673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3 линии сборки</a:t>
            </a:r>
          </a:p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Сварка, spline, ball-sliding</a:t>
            </a:r>
          </a:p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Холодная/горячая высадка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32339" y="1600200"/>
            <a:ext cx="2556433" cy="4114800"/>
          </a:xfrm>
          <a:prstGeom prst="roundRect">
            <a:avLst/>
          </a:prstGeom>
          <a:solidFill>
            <a:srgbClr val="F5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5219" y="1783080"/>
            <a:ext cx="21906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Segoe UI Semibold"/>
              </a:rPr>
              <a:t>Контроль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15219" y="2468880"/>
            <a:ext cx="2190673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Программа испытаний NVH</a:t>
            </a:r>
          </a:p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CMM, MPT, стенды жёсткости</a:t>
            </a:r>
          </a:p>
          <a:p>
            <a:pPr algn="l">
              <a:lnSpc>
                <a:spcPct val="115000"/>
              </a:lnSpc>
              <a:spcAft>
                <a:spcPts val="936"/>
              </a:spcAft>
            </a:pPr>
            <a:r>
              <a:rPr sz="13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300">
                <a:solidFill>
                  <a:srgbClr val="1F2A44"/>
                </a:solidFill>
                <a:latin typeface="Segoe UI"/>
              </a:rPr>
              <a:t>100% контроль сырья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0"/>
            <a:ext cx="274320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0" b="1">
                <a:solidFill>
                  <a:srgbClr val="0078A8"/>
                </a:solidFill>
                <a:latin typeface="Segoe UI Semibold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51760"/>
            <a:ext cx="889985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 Semibold"/>
              </a:rPr>
              <a:t>Продукция рулевой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3840480"/>
            <a:ext cx="8899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F4F8"/>
                </a:solidFill>
                <a:latin typeface="Segoe UI"/>
              </a:rPr>
              <a:t>Промежуточные валы, yoke, рулевые валы и карданные шарниры.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НИОКР и проектирование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24"/>
              </a:spcAft>
            </a:pPr>
            <a:r>
              <a:rPr sz="17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700">
                <a:solidFill>
                  <a:srgbClr val="1F2A44"/>
                </a:solidFill>
                <a:latin typeface="Segoe UI"/>
              </a:rPr>
              <a:t>Владение государственными и отраслевыми стандартами (EU, US, JP).</a:t>
            </a:r>
          </a:p>
          <a:p>
            <a:pPr algn="l">
              <a:lnSpc>
                <a:spcPct val="115000"/>
              </a:lnSpc>
              <a:spcAft>
                <a:spcPts val="1224"/>
              </a:spcAft>
            </a:pPr>
            <a:r>
              <a:rPr sz="17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700">
                <a:solidFill>
                  <a:srgbClr val="1F2A44"/>
                </a:solidFill>
                <a:latin typeface="Segoe UI"/>
              </a:rPr>
              <a:t>Команда с опытом более 30 лет у ведущих производителей рулевых систем.</a:t>
            </a:r>
          </a:p>
          <a:p>
            <a:pPr algn="l">
              <a:lnSpc>
                <a:spcPct val="115000"/>
              </a:lnSpc>
              <a:spcAft>
                <a:spcPts val="1224"/>
              </a:spcAft>
            </a:pPr>
            <a:r>
              <a:rPr sz="17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700">
                <a:solidFill>
                  <a:srgbClr val="1F2A44"/>
                </a:solidFill>
                <a:latin typeface="Segoe UI"/>
              </a:rPr>
              <a:t>Оптимизация конструкций по образцам мировых поставщиков компонентов.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Линейка промежуточных валов (I-Shaft)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_zhengling-machinery__images__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167" y="1508760"/>
            <a:ext cx="5547360" cy="4160519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НИОКР и серийное производство компонентов рулевой и трансмиссионной системы.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Yoke (вилки)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_zhengling-machinery__images__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167" y="1508760"/>
            <a:ext cx="5547360" cy="4160519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Холодная и горячая высадка, OEM по образцам заказчика.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10T скользящий I-Shaft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_zhengling-machinery__images__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167" y="1508760"/>
            <a:ext cx="5547360" cy="4160519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Сварной yoke, yoke холодной высадки, spline с пластиковым покрытием. Рабочий момент: 30–50 N·m.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18T скользящий I-Shaft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_zhengling-machinery__images__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167" y="1508760"/>
            <a:ext cx="5547360" cy="4160519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89788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Рабочий момент: 50–65 N·m.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EPS ball-sliding I-Shaft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224"/>
              </a:spcAft>
            </a:pPr>
            <a:r>
              <a:rPr sz="17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700">
                <a:solidFill>
                  <a:srgbClr val="1F2A44"/>
                </a:solidFill>
                <a:latin typeface="Segoe UI"/>
              </a:rPr>
              <a:t>Рабочий момент: 65–99 N·m.</a:t>
            </a:r>
          </a:p>
          <a:p>
            <a:pPr algn="l">
              <a:lnSpc>
                <a:spcPct val="115000"/>
              </a:lnSpc>
              <a:spcAft>
                <a:spcPts val="1224"/>
              </a:spcAft>
            </a:pPr>
            <a:r>
              <a:rPr sz="17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700">
                <a:solidFill>
                  <a:srgbClr val="1F2A44"/>
                </a:solidFill>
                <a:latin typeface="Segoe UI"/>
              </a:rPr>
              <a:t>6-зубчатая конструкция со стальными шариками и втулками.</a:t>
            </a:r>
          </a:p>
          <a:p>
            <a:pPr algn="l">
              <a:lnSpc>
                <a:spcPct val="115000"/>
              </a:lnSpc>
              <a:spcAft>
                <a:spcPts val="1224"/>
              </a:spcAft>
            </a:pPr>
            <a:r>
              <a:rPr sz="17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700">
                <a:solidFill>
                  <a:srgbClr val="1F2A44"/>
                </a:solidFill>
                <a:latin typeface="Segoe UI"/>
              </a:rPr>
              <a:t>Секционная сварка или монолитная сборка — по требованию заказчика.</a:t>
            </a:r>
          </a:p>
        </p:txBody>
      </p:sp>
      <p:pic>
        <p:nvPicPr>
          <p:cNvPr id="7" name="Picture 6" descr="crop__zhengling-machinery__images__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307" y="1554480"/>
            <a:ext cx="5608320" cy="420624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Рулевые валы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_zhengling-machinery__images__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167" y="1508760"/>
            <a:ext cx="5547360" cy="4160519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Проектирование и FEA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_zhengling-machinery__images__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9977"/>
            <a:ext cx="5410047" cy="3083726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120640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Segoe UI Semibold"/>
              </a:rPr>
              <a:t>Карданный шарнир и фазировка</a:t>
            </a:r>
          </a:p>
        </p:txBody>
      </p:sp>
      <p:pic>
        <p:nvPicPr>
          <p:cNvPr id="8" name="Picture 7" descr="crop__zhengling-machinery__images__slide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749977"/>
            <a:ext cx="5410047" cy="3083726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78727" y="5120640"/>
            <a:ext cx="54100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B2A4A"/>
                </a:solidFill>
                <a:latin typeface="Segoe UI Semibold"/>
              </a:rPr>
              <a:t>FEA-анализ деталей I-Shaft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Программа испытаний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185854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79473"/>
                <a:gridCol w="7606381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Категория</a:t>
                      </a:r>
                    </a:p>
                  </a:txBody>
                  <a:tcPr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Параметры</a:t>
                      </a:r>
                    </a:p>
                  </a:txBody>
                  <a:tcPr anchor="ctr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Функциональные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Момент трения, соосность; крутильная жёсткость; осевой и радиальный зазоры; момент карданного шарнира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Прочностные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Предел кручения; усталость; усилие выдавливания подшипника; осевое растяжение вал–труба–yoke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NVH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Вязкое трение, акустические и вибрационные требования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0"/>
            <a:ext cx="274320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0" b="1">
                <a:solidFill>
                  <a:srgbClr val="0078A8"/>
                </a:solidFill>
                <a:latin typeface="Segoe UI Semibold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51760"/>
            <a:ext cx="889985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 Semibold"/>
              </a:rPr>
              <a:t>Производство и контроль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3840480"/>
            <a:ext cx="8899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F4F8"/>
                </a:solidFill>
                <a:latin typeface="Segoe UI"/>
              </a:rPr>
              <a:t>3 линии сборки, автоматическая сварка, стенды жёсткости и контроля качества.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Сборка промежуточного вала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_zhengling-machinery__images__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422" y="1508760"/>
            <a:ext cx="7136851" cy="416052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B2A4A"/>
                </a:solidFill>
                <a:latin typeface="Segoe UI Semibold"/>
              </a:rPr>
              <a:t>Ключевые характеристики и материалы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07008"/>
            <a:ext cx="219456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54480"/>
          <a:ext cx="11185854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15049"/>
                <a:gridCol w="727080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Аспект</a:t>
                      </a:r>
                    </a:p>
                  </a:txBody>
                  <a:tcPr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 Semibold"/>
                        </a:rPr>
                        <a:t>Содержание</a:t>
                      </a:r>
                    </a:p>
                  </a:txBody>
                  <a:tcPr anchor="ctr">
                    <a:solidFill>
                      <a:srgbClr val="0B2A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Spline / подшипник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Точность посадки spline; размеры отверстия подшипника; позиционирование болта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Сырьё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100% контроль сырья; оценка микроструктуры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Процесс yoke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44"/>
                          </a:solidFill>
                          <a:latin typeface="Segoe UI"/>
                        </a:rPr>
                        <a:t>Требования к штамповке и контролю дефектов материала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362895" y="647395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0B2A4A"/>
                </a:solidFill>
                <a:latin typeface="Segoe UI Semibold"/>
              </a:rPr>
              <a:t>НИОКР, качество и следующий шаг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90007" y="3703320"/>
            <a:ext cx="2011680" cy="38100"/>
          </a:xfrm>
          <a:prstGeom prst="rect">
            <a:avLst/>
          </a:prstGeom>
          <a:solidFill>
            <a:srgbClr val="00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77639"/>
            <a:ext cx="94484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Segoe UI"/>
              </a:rPr>
              <a:t>Подбор изделий и уточнение применимости — по техническому заданию.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4114800"/>
            <a:ext cx="597377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15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500">
                <a:solidFill>
                  <a:srgbClr val="1F2A44"/>
                </a:solidFill>
                <a:latin typeface="Segoe UI"/>
              </a:rPr>
              <a:t>FEA, оптимизация угла фазировки, программа испытаний NVH.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15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500">
                <a:solidFill>
                  <a:srgbClr val="1F2A44"/>
                </a:solidFill>
                <a:latin typeface="Segoe UI"/>
              </a:rPr>
              <a:t>3 линии сборки, сварка, контроль карданных шарниров.</a:t>
            </a:r>
          </a:p>
          <a:p>
            <a:pPr algn="l">
              <a:lnSpc>
                <a:spcPct val="115000"/>
              </a:lnSpc>
              <a:spcAft>
                <a:spcPts val="1080"/>
              </a:spcAft>
            </a:pPr>
            <a:r>
              <a:rPr sz="1500" b="1">
                <a:solidFill>
                  <a:srgbClr val="0078A8"/>
                </a:solidFill>
                <a:latin typeface="Segoe UI"/>
              </a:rPr>
              <a:t>•  </a:t>
            </a:r>
            <a:r>
              <a:rPr sz="1500">
                <a:solidFill>
                  <a:srgbClr val="1F2A44"/>
                </a:solidFill>
                <a:latin typeface="Segoe UI"/>
              </a:rPr>
              <a:t>CMM, магнитопорошковый контроль, стенды жёсткости.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